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135446-8490-4F63-BE7B-3DF862908A2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F3585-82A3-4139-B224-7D17D6325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F3585-82A3-4139-B224-7D17D632532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88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6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6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41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15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02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82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98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11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4785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8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2768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23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98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6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6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5720" y="995517"/>
            <a:ext cx="6600451" cy="2262781"/>
          </a:xfrm>
        </p:spPr>
        <p:txBody>
          <a:bodyPr>
            <a:normAutofit fontScale="90000"/>
          </a:bodyPr>
          <a:lstStyle/>
          <a:p>
            <a:r>
              <a:rPr dirty="0"/>
              <a:t>Advanced Data Structures and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2104" y="5057599"/>
            <a:ext cx="7200764" cy="1126283"/>
          </a:xfrm>
        </p:spPr>
        <p:txBody>
          <a:bodyPr>
            <a:normAutofit fontScale="85000" lnSpcReduction="10000"/>
          </a:bodyPr>
          <a:lstStyle/>
          <a:p>
            <a:r>
              <a:rPr b="1" dirty="0"/>
              <a:t>Topics: String Operations and Brute Force Pattern Matching</a:t>
            </a:r>
          </a:p>
          <a:p>
            <a:r>
              <a:rPr b="1" dirty="0"/>
              <a:t>Presented by: </a:t>
            </a:r>
            <a:r>
              <a:rPr lang="en-US" b="1" dirty="0"/>
              <a:t>RISHAB BISWAS(A125017) &amp; SIDDHARTH KUMAR(A125021)</a:t>
            </a:r>
            <a:endParaRPr b="1" dirty="0"/>
          </a:p>
          <a:p>
            <a:r>
              <a:rPr b="1" dirty="0" err="1"/>
              <a:t>M.Tech</a:t>
            </a:r>
            <a:r>
              <a:rPr b="1" dirty="0"/>
              <a:t> Academic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String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r>
              <a:t>String processing refers to algorithms and techniques for manipulating and analyzing strings of text.</a:t>
            </a:r>
          </a:p>
          <a:p>
            <a:r>
              <a:t>Common operations include searching, matching, concatenation, and substring extraction.</a:t>
            </a:r>
          </a:p>
          <a:p>
            <a:r>
              <a:t>Applications: text editors, DNA sequence analysis, search engines, and data compression.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String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r>
              <a:rPr dirty="0"/>
              <a:t>Concatenation: Joining two or more strings together.</a:t>
            </a:r>
          </a:p>
          <a:p>
            <a:r>
              <a:rPr dirty="0"/>
              <a:t>Substring extraction: Extracting parts of a string.</a:t>
            </a:r>
          </a:p>
          <a:p>
            <a:r>
              <a:rPr dirty="0"/>
              <a:t>String comparison: Lexicographical comparison.</a:t>
            </a:r>
          </a:p>
          <a:p>
            <a:r>
              <a:rPr dirty="0"/>
              <a:t>String reversal: Reversing order of characters.</a:t>
            </a:r>
          </a:p>
          <a:p>
            <a:r>
              <a:rPr dirty="0"/>
              <a:t>Palindrome checking: Checking if a string reads same backward and forward.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String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Used in text mining and information retrieval.</a:t>
            </a:r>
          </a:p>
          <a:p>
            <a:r>
              <a:t>Helps in natural language processing (NLP) tasks.</a:t>
            </a:r>
          </a:p>
          <a:p>
            <a:r>
              <a:t>Essential for compiler design (tokenization, parsing).</a:t>
            </a:r>
          </a:p>
          <a:p>
            <a:r>
              <a:t>Basis for pattern matching algorithms and data compression.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Pattern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r>
              <a:t>Pattern matching involves finding occurrences of a substring (pattern) within a larger string (text).</a:t>
            </a:r>
          </a:p>
          <a:p>
            <a:r>
              <a:t>Two main approaches: Brute Force and Efficient Algorithms (like KMP, Rabin-Karp, Boyer-Moore).</a:t>
            </a:r>
          </a:p>
          <a:p>
            <a:r>
              <a:t>Brute Force is the simplest approach — checks all possible positions.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Brute Force Pattern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The algorithm checks for the pattern starting from every position in the text.</a:t>
            </a:r>
          </a:p>
          <a:p>
            <a:r>
              <a:t>If mismatch occurs, it shifts the pattern by one position and compares again.</a:t>
            </a:r>
          </a:p>
          <a:p>
            <a:r>
              <a:t>Time Complexity: O(n × m), where n = length of text and m = length of pattern.</a:t>
            </a:r>
          </a:p>
          <a:p>
            <a:r>
              <a:t>Space Complexity: O(1).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Steps of Brute Force Pattern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Start from the first index of the text.</a:t>
            </a:r>
          </a:p>
          <a:p>
            <a:r>
              <a:rPr dirty="0"/>
              <a:t>Compare pattern characters with the text sequentially.</a:t>
            </a:r>
          </a:p>
          <a:p>
            <a:r>
              <a:rPr dirty="0"/>
              <a:t>If all characters match, record the position.</a:t>
            </a:r>
          </a:p>
          <a:p>
            <a:r>
              <a:rPr dirty="0"/>
              <a:t>If mismatch, move one position forward in text and repeat.</a:t>
            </a:r>
          </a:p>
          <a:p>
            <a:r>
              <a:rPr dirty="0"/>
              <a:t>Continue until the end of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Brute Force Pattern Matching</a:t>
            </a:r>
            <a:r>
              <a:rPr lang="en-US" dirty="0"/>
              <a:t>(Pseudocode)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endParaRPr sz="1200" dirty="0"/>
          </a:p>
          <a:p>
            <a:r>
              <a:rPr lang="en-US" sz="1200" dirty="0"/>
              <a:t>Algorithm </a:t>
            </a:r>
            <a:r>
              <a:rPr lang="en-US" sz="1200" dirty="0" err="1"/>
              <a:t>BruteForceMatch</a:t>
            </a:r>
            <a:r>
              <a:rPr lang="en-US" sz="1200" dirty="0"/>
              <a:t>(T, P)</a:t>
            </a:r>
          </a:p>
          <a:p>
            <a:r>
              <a:rPr lang="en-US" sz="1200" dirty="0"/>
              <a:t># T → Text of length n</a:t>
            </a:r>
          </a:p>
          <a:p>
            <a:r>
              <a:rPr lang="en-US" sz="1200" dirty="0"/>
              <a:t># P → Pattern of length m</a:t>
            </a:r>
          </a:p>
          <a:p>
            <a:endParaRPr lang="en-US" sz="1200" dirty="0"/>
          </a:p>
          <a:p>
            <a:r>
              <a:rPr lang="en-US" sz="1200" dirty="0"/>
              <a:t>1. n ← length(T)</a:t>
            </a:r>
          </a:p>
          <a:p>
            <a:r>
              <a:rPr lang="en-US" sz="1200" dirty="0"/>
              <a:t>2. m ← length(P)</a:t>
            </a:r>
          </a:p>
          <a:p>
            <a:endParaRPr lang="en-US" sz="1200" dirty="0"/>
          </a:p>
          <a:p>
            <a:r>
              <a:rPr lang="en-US" sz="1200" dirty="0"/>
              <a:t>3. for </a:t>
            </a:r>
            <a:r>
              <a:rPr lang="en-US" sz="1200" dirty="0" err="1"/>
              <a:t>i</a:t>
            </a:r>
            <a:r>
              <a:rPr lang="en-US" sz="1200" dirty="0"/>
              <a:t> ← 0 to n - m do</a:t>
            </a:r>
          </a:p>
          <a:p>
            <a:r>
              <a:rPr lang="en-US" sz="1200" dirty="0"/>
              <a:t>4.     j ← 0</a:t>
            </a:r>
          </a:p>
          <a:p>
            <a:r>
              <a:rPr lang="en-US" sz="1200" dirty="0"/>
              <a:t>5.     while j &lt; m and T[</a:t>
            </a:r>
            <a:r>
              <a:rPr lang="en-US" sz="1200" dirty="0" err="1"/>
              <a:t>i</a:t>
            </a:r>
            <a:r>
              <a:rPr lang="en-US" sz="1200" dirty="0"/>
              <a:t> + j] = P[j] do</a:t>
            </a:r>
          </a:p>
          <a:p>
            <a:r>
              <a:rPr lang="en-US" sz="1200" dirty="0"/>
              <a:t>6.         j ← j + 1</a:t>
            </a:r>
          </a:p>
          <a:p>
            <a:r>
              <a:rPr lang="en-US" sz="1200" dirty="0"/>
              <a:t>7.     if j = m then</a:t>
            </a:r>
          </a:p>
          <a:p>
            <a:r>
              <a:rPr lang="en-US" sz="1200" dirty="0"/>
              <a:t>8.         print("Pattern found at index", </a:t>
            </a:r>
            <a:r>
              <a:rPr lang="en-US" sz="1200" dirty="0" err="1"/>
              <a:t>i</a:t>
            </a:r>
            <a:r>
              <a:rPr lang="en-US" sz="1200" dirty="0"/>
              <a:t>)</a:t>
            </a:r>
          </a:p>
          <a:p>
            <a:r>
              <a:rPr lang="en-US" sz="1200" dirty="0"/>
              <a:t>9. end for</a:t>
            </a:r>
          </a:p>
        </p:txBody>
      </p:sp>
    </p:spTree>
    <p:extLst>
      <p:ext uri="{BB962C8B-B14F-4D97-AF65-F5344CB8AC3E}">
        <p14:creationId xmlns:p14="http://schemas.microsoft.com/office/powerpoint/2010/main" val="2562083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Example of Brute Force Pattern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Text: A B C D A B D A B C A B D A B C</a:t>
            </a:r>
          </a:p>
          <a:p>
            <a:r>
              <a:t>Pattern: A B D</a:t>
            </a:r>
          </a:p>
          <a:p>
            <a:r>
              <a:t>Matches found at positions: 5 and 10 (1-based index).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r>
              <a:rPr dirty="0"/>
              <a:t>Advantages:</a:t>
            </a:r>
          </a:p>
          <a:p>
            <a:r>
              <a:rPr dirty="0"/>
              <a:t>Simple to implement and understand.</a:t>
            </a:r>
          </a:p>
          <a:p>
            <a:r>
              <a:rPr dirty="0"/>
              <a:t>Works for small text and pattern sizes.</a:t>
            </a:r>
          </a:p>
          <a:p>
            <a:r>
              <a:rPr dirty="0"/>
              <a:t>Disadvantages:</a:t>
            </a:r>
          </a:p>
          <a:p>
            <a:r>
              <a:rPr dirty="0"/>
              <a:t>Inefficient for large strings.</a:t>
            </a:r>
          </a:p>
          <a:p>
            <a:r>
              <a:rPr dirty="0"/>
              <a:t>Repeated comparisons lead to high time complexity.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Comparison with Other Pattern Matching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r>
              <a:rPr dirty="0"/>
              <a:t> KMP Algorithm: Uses preprocessing to avoid redundant comparisons (O(n + m)).</a:t>
            </a:r>
          </a:p>
          <a:p>
            <a:r>
              <a:rPr dirty="0"/>
              <a:t>Rabin-Karp Algorithm: Uses hashing for pattern matching.</a:t>
            </a:r>
          </a:p>
          <a:p>
            <a:r>
              <a:rPr dirty="0"/>
              <a:t>Boyer-Moore Algorithm: Compares from right to left, skips sections of text efficiently.</a:t>
            </a:r>
          </a:p>
          <a:p>
            <a:r>
              <a:rPr dirty="0"/>
              <a:t>Brute Force: Basic method; foundation for understanding other algorithms.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Applications of String Processing &amp; Pattern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Search engines and text processing tools.</a:t>
            </a:r>
          </a:p>
          <a:p>
            <a:r>
              <a:rPr dirty="0"/>
              <a:t>Bioinformatics (DNA sequence matching).</a:t>
            </a:r>
          </a:p>
          <a:p>
            <a:r>
              <a:rPr dirty="0"/>
              <a:t>Plagiarism detection and data validation.</a:t>
            </a:r>
          </a:p>
          <a:p>
            <a:r>
              <a:rPr dirty="0"/>
              <a:t>Spell checkers and auto-correct systems.</a:t>
            </a:r>
          </a:p>
          <a:p>
            <a:r>
              <a:rPr dirty="0"/>
              <a:t>Intrusion detection systems in cybersecurity.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String processing and pattern matching are fundamental in data structures and algorithms.</a:t>
            </a:r>
          </a:p>
          <a:p>
            <a:r>
              <a:t>Brute force provides the foundation to understand optimized algorithms.</a:t>
            </a:r>
          </a:p>
          <a:p>
            <a:r>
              <a:t>Efficient pattern matching is vital for large-scale data handling and text analytics.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Time Complexity Analysis of Brute Force Pattern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Let n = length of text, m = length of pattern.</a:t>
            </a:r>
          </a:p>
          <a:p>
            <a:r>
              <a:t>Algorithm checks for the pattern starting from every position in the text.</a:t>
            </a:r>
          </a:p>
          <a:p>
            <a:r>
              <a:t>For each position, up to m character comparisons may occur.</a:t>
            </a:r>
          </a:p>
          <a:p>
            <a:r>
              <a:t>→ Overall complexity depends on number of matches and mismatches.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Best, Average, and Worst Case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r>
              <a:t>• Best Case: Immediate mismatch at each position → O(n)</a:t>
            </a:r>
          </a:p>
          <a:p>
            <a:r>
              <a:t>   Example: Text = 'AAAAAA', Pattern = 'B'</a:t>
            </a:r>
          </a:p>
          <a:p>
            <a:r>
              <a:t>• Average Case: Partial matches before mismatch → O(n × m)</a:t>
            </a:r>
          </a:p>
          <a:p>
            <a:r>
              <a:t>• Worst Case: Long prefix matches at each shift → O(n × m)</a:t>
            </a:r>
          </a:p>
          <a:p>
            <a:r>
              <a:t>   Example: Text = 'AAAAAA', Pattern = 'AAAAB'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Example of Time Complexity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r>
              <a:rPr dirty="0"/>
              <a:t>Text: ABABABABAB | Pattern: ABAB</a:t>
            </a:r>
          </a:p>
          <a:p>
            <a:r>
              <a:rPr dirty="0"/>
              <a:t>→ </a:t>
            </a:r>
            <a:r>
              <a:rPr dirty="0" err="1"/>
              <a:t>i</a:t>
            </a:r>
            <a:r>
              <a:rPr dirty="0"/>
              <a:t> = 0 → Match (4 comparisons)</a:t>
            </a:r>
          </a:p>
          <a:p>
            <a:r>
              <a:rPr dirty="0"/>
              <a:t>→ </a:t>
            </a:r>
            <a:r>
              <a:rPr dirty="0" err="1"/>
              <a:t>i</a:t>
            </a:r>
            <a:r>
              <a:rPr dirty="0"/>
              <a:t> = 1 → Mismatch after 3 comparisons</a:t>
            </a:r>
          </a:p>
          <a:p>
            <a:r>
              <a:rPr dirty="0"/>
              <a:t>→ </a:t>
            </a:r>
            <a:r>
              <a:rPr dirty="0" err="1"/>
              <a:t>i</a:t>
            </a:r>
            <a:r>
              <a:rPr dirty="0"/>
              <a:t> = 2 → Match (4 comparisons)</a:t>
            </a:r>
          </a:p>
          <a:p>
            <a:r>
              <a:rPr dirty="0"/>
              <a:t>→ Average comparisons ≈ 3–4 per shift → O(n × m)</a:t>
            </a:r>
          </a:p>
          <a:p>
            <a:r>
              <a:rPr dirty="0"/>
              <a:t>Space Complexity: O(1)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Table of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r>
              <a:t>Case | Description | Time Complexity</a:t>
            </a:r>
          </a:p>
          <a:p>
            <a:r>
              <a:t>--------------------------------------</a:t>
            </a:r>
          </a:p>
          <a:p>
            <a:r>
              <a:t>Best | Immediate mismatch | O(n)</a:t>
            </a:r>
          </a:p>
          <a:p>
            <a:r>
              <a:t>Average | Partial match at some positions | O(n × m)</a:t>
            </a:r>
          </a:p>
          <a:p>
            <a:r>
              <a:t>Worst | Full match before mismatch | O(n × m)</a:t>
            </a:r>
          </a:p>
          <a:p>
            <a:r>
              <a:t>Space Complexity = O(1)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B4C88-1173-6835-E599-88D4EB63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562" y="2788555"/>
            <a:ext cx="6589199" cy="1280890"/>
          </a:xfrm>
        </p:spPr>
        <p:txBody>
          <a:bodyPr/>
          <a:lstStyle/>
          <a:p>
            <a:r>
              <a:rPr lang="en-US" dirty="0"/>
              <a:t>Thankyou!!!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45483-6AFD-FC78-0B21-D6B22D642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2725" y="3429000"/>
            <a:ext cx="6591985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(Questions???)</a:t>
            </a:r>
          </a:p>
        </p:txBody>
      </p:sp>
    </p:spTree>
    <p:extLst>
      <p:ext uri="{BB962C8B-B14F-4D97-AF65-F5344CB8AC3E}">
        <p14:creationId xmlns:p14="http://schemas.microsoft.com/office/powerpoint/2010/main" val="362450276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1205</TotalTime>
  <Words>908</Words>
  <Application>Microsoft Office PowerPoint</Application>
  <PresentationFormat>On-screen Show (4:3)</PresentationFormat>
  <Paragraphs>119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Gothic</vt:lpstr>
      <vt:lpstr>Wingdings 3</vt:lpstr>
      <vt:lpstr>Wisp</vt:lpstr>
      <vt:lpstr>Advanced Data Structures and Algorithms</vt:lpstr>
      <vt:lpstr>Introduction to String Processing</vt:lpstr>
      <vt:lpstr>Common String Operations</vt:lpstr>
      <vt:lpstr>Importance of String Processing</vt:lpstr>
      <vt:lpstr>Introduction to Pattern Matching</vt:lpstr>
      <vt:lpstr>Brute Force Pattern Matching</vt:lpstr>
      <vt:lpstr>Steps of Brute Force Pattern Matching</vt:lpstr>
      <vt:lpstr>Brute Force Pattern Matching(Pseudocode)</vt:lpstr>
      <vt:lpstr>Example of Brute Force Pattern Matching</vt:lpstr>
      <vt:lpstr>Advantages and Disadvantages</vt:lpstr>
      <vt:lpstr>Comparison with Other Pattern Matching Algorithms</vt:lpstr>
      <vt:lpstr>Applications of String Processing &amp; Pattern Matching</vt:lpstr>
      <vt:lpstr>Conclusion</vt:lpstr>
      <vt:lpstr>Time Complexity Analysis of Brute Force Pattern Matching</vt:lpstr>
      <vt:lpstr>Best, Average, and Worst Case Analysis</vt:lpstr>
      <vt:lpstr>Example of Time Complexity (Step-by-Step)</vt:lpstr>
      <vt:lpstr>Summary Table of Time Complexity</vt:lpstr>
      <vt:lpstr>Thankyou!!!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Structures and Algorithms</dc:title>
  <dc:subject/>
  <dc:creator>RAMBO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2025-11-11T09:07:34Z</dcterms:modified>
  <cp:category/>
</cp:coreProperties>
</file>